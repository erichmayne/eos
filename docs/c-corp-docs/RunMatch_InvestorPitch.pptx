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A600"/>
                </a:solidFill>
              </a:defRPr>
            </a:pPr>
            <a:r>
              <a:t>INVESTOR PITCH · PRE-SEED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D9A600"/>
                </a:solidFill>
              </a:defRPr>
            </a:pPr>
            <a:r>
              <a:t>RunMatch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999999"/>
                </a:solidFill>
              </a:defRPr>
            </a:pPr>
            <a:r>
              <a:t>The accountability platform for runners that pays you to show up.</a:t>
            </a:r>
          </a:p>
          <a:p>
            <a:pPr>
              <a:defRPr sz="2000">
                <a:solidFill>
                  <a:srgbClr val="999999"/>
                </a:solidFill>
              </a:defRPr>
            </a:pPr>
            <a:r>
              <a:t>Match with runners like you. Build consistency. Compete for cash.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99999"/>
                </a:solidFill>
              </a:defRPr>
            </a:pPr>
            <a:r>
              <a:t>PRE-SEED ROUND · DELAWARE C-CORP · RUNMATCH, INC.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A600"/>
                </a:solidFill>
              </a:defRPr>
            </a:pPr>
            <a:r>
              <a:t>RunMatch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Confidential · 2026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A600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 massive, growing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468880" cy="20116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3800" b="1">
                <a:solidFill>
                  <a:srgbClr val="D9A600"/>
                </a:solidFill>
              </a:defRPr>
            </a:pPr>
            <a:r>
              <a:t>$13.5B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99999"/>
                </a:solidFill>
              </a:defRPr>
            </a:pPr>
            <a:r>
              <a:t>Global fitness app</a:t>
            </a:r>
            <a:br/>
            <a:r>
              <a:t>market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286000"/>
            <a:ext cx="2468880" cy="20116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3800" b="1">
                <a:solidFill>
                  <a:srgbClr val="D9A600"/>
                </a:solidFill>
              </a:defRPr>
            </a:pPr>
            <a:r>
              <a:t>$4.75B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99999"/>
                </a:solidFill>
              </a:defRPr>
            </a:pPr>
            <a:r>
              <a:t>US market</a:t>
            </a:r>
            <a:br/>
            <a:r>
              <a:t>alone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286000"/>
            <a:ext cx="2468880" cy="20116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3800" b="1">
                <a:solidFill>
                  <a:srgbClr val="D9A600"/>
                </a:solidFill>
              </a:defRPr>
            </a:pPr>
            <a:r>
              <a:t>13%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99999"/>
                </a:solidFill>
              </a:defRPr>
            </a:pPr>
            <a:r>
              <a:t>CAGR through</a:t>
            </a:r>
            <a:br/>
            <a:r>
              <a:t>2034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286000"/>
            <a:ext cx="2468880" cy="20116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3800" b="1">
                <a:solidFill>
                  <a:srgbClr val="D9A600"/>
                </a:solidFill>
              </a:defRPr>
            </a:pPr>
            <a:r>
              <a:t>40%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999999"/>
                </a:solidFill>
              </a:defRPr>
            </a:pPr>
            <a:r>
              <a:t>More engagement</a:t>
            </a:r>
            <a:br/>
            <a:r>
              <a:t>with gamified apps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A600"/>
                </a:solidFill>
              </a:defRPr>
            </a:pPr>
            <a:r>
              <a:t>RunMatch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6975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Confidential · 2026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A600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Runners need more than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120640" cy="29260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t>Runners quit alone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999999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999999"/>
                </a:solidFill>
              </a:defRPr>
            </a:pPr>
            <a:r>
              <a:t>Most running apps track performance but don't build accountability. Without a matched community, motivation fades — 80% of new runners quit within 6 months.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2286000"/>
            <a:ext cx="5120640" cy="29260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t>No financial skin in the game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999999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999999"/>
                </a:solidFill>
              </a:defRPr>
            </a:pPr>
            <a:r>
              <a:t>Research shows people who put money on the line are 3x more likely to complete a fitness goal. Yet no running app combines accountability, matching, and real cash stakes.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A600"/>
                </a:solidFill>
              </a:defRPr>
            </a:pPr>
            <a:r>
              <a:t>RunMatch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Confidential · 2026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A600"/>
                </a:solidFill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Nobody owns this intersection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2011680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900" b="1">
                <a:solidFill>
                  <a:srgbClr val="999999"/>
                </a:solidFill>
              </a:defRPr>
            </a:pPr>
            <a:r>
              <a:t>COMPANY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286000"/>
            <a:ext cx="5943600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900" b="1">
                <a:solidFill>
                  <a:srgbClr val="999999"/>
                </a:solidFill>
              </a:defRPr>
            </a:pPr>
            <a:r>
              <a:t>POSITIONING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2286000"/>
            <a:ext cx="2743200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900" b="1">
                <a:solidFill>
                  <a:srgbClr val="999999"/>
                </a:solidFill>
              </a:defRPr>
            </a:pPr>
            <a:r>
              <a:t>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2011680" cy="502920"/>
          </a:xfrm>
          <a:prstGeom prst="rect">
            <a:avLst/>
          </a:prstGeom>
          <a:solidFill>
            <a:srgbClr val="141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D9A600"/>
                </a:solidFill>
              </a:defRPr>
            </a:pPr>
            <a:r>
              <a:t>RunMatch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788920"/>
            <a:ext cx="5943600" cy="502920"/>
          </a:xfrm>
          <a:prstGeom prst="rect">
            <a:avLst/>
          </a:prstGeom>
          <a:solidFill>
            <a:srgbClr val="141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Full stack — accountability + matching + cash + community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788920"/>
            <a:ext cx="2743200" cy="502920"/>
          </a:xfrm>
          <a:prstGeom prst="rect">
            <a:avLst/>
          </a:prstGeom>
          <a:solidFill>
            <a:srgbClr val="141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$100K raising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2011680" cy="5029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Strava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291840"/>
            <a:ext cx="5943600" cy="5029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Community &amp; tracking — no cash, no matching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3291840"/>
            <a:ext cx="2743200" cy="5029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$415M rev · $2.2B 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94760"/>
            <a:ext cx="2011680" cy="5029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StepBet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794760"/>
            <a:ext cx="5943600" cy="5029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Cash competitions — solo goals only, no matching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3794760"/>
            <a:ext cx="2743200" cy="5029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$14.4M raised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2011680" cy="5029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HealthyWage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4297680"/>
            <a:ext cx="5943600" cy="5029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Weight loss betting — no running focus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4297680"/>
            <a:ext cx="2743200" cy="5029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Bootstrapped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00600"/>
            <a:ext cx="2011680" cy="5029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Sweatcoin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4800600"/>
            <a:ext cx="5943600" cy="5029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Passive step rewards — no competition stakes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4800600"/>
            <a:ext cx="2743200" cy="5029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$10M rev · $50M val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A600"/>
                </a:solidFill>
              </a:defRPr>
            </a:pPr>
            <a:r>
              <a:t>RunMatch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6975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Confidential · 2026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A600"/>
                </a:solidFill>
              </a:defRPr>
            </a:pPr>
            <a:r>
              <a:t>THE GAP RUNMATCH FILLS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Where others fall short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91840" cy="29260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t>Strava</a:t>
            </a:r>
          </a:p>
          <a:p>
            <a:pPr algn="ctr">
              <a:spcAft>
                <a:spcPts val="400"/>
              </a:spcAft>
              <a:defRPr sz="400" b="0">
                <a:solidFill>
                  <a:srgbClr val="999999"/>
                </a:solidFill>
              </a:defRPr>
            </a:pPr>
          </a:p>
          <a:p>
            <a:pPr algn="ctr">
              <a:spcAft>
                <a:spcPts val="400"/>
              </a:spcAft>
              <a:defRPr sz="1300" b="1">
                <a:solidFill>
                  <a:srgbClr val="D9A600"/>
                </a:solidFill>
              </a:defRPr>
            </a:pPr>
            <a:r>
              <a:t>Community ✓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D9A600"/>
                </a:solidFill>
              </a:defRPr>
            </a:pPr>
            <a:r>
              <a:t>Tracking ✓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555555"/>
                </a:solidFill>
              </a:defRPr>
            </a:pPr>
            <a:r>
              <a:t>No cash prizes ✗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555555"/>
                </a:solidFill>
              </a:defRPr>
            </a:pPr>
            <a:r>
              <a:t>No matching 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286000"/>
            <a:ext cx="3291840" cy="2926080"/>
          </a:xfrm>
          <a:prstGeom prst="roundRect">
            <a:avLst>
              <a:gd name="adj" fmla="val 6000"/>
            </a:avLst>
          </a:prstGeom>
          <a:solidFill>
            <a:srgbClr val="181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2200" b="1">
                <a:solidFill>
                  <a:srgbClr val="D9A600"/>
                </a:solidFill>
              </a:defRPr>
            </a:pPr>
            <a:r>
              <a:t>RunMatch</a:t>
            </a:r>
          </a:p>
          <a:p>
            <a:pPr algn="ctr">
              <a:spcAft>
                <a:spcPts val="400"/>
              </a:spcAft>
              <a:defRPr sz="400" b="0">
                <a:solidFill>
                  <a:srgbClr val="999999"/>
                </a:solidFill>
              </a:defRPr>
            </a:pPr>
          </a:p>
          <a:p>
            <a:pPr algn="ctr">
              <a:spcAft>
                <a:spcPts val="400"/>
              </a:spcAft>
              <a:defRPr sz="1300" b="1">
                <a:solidFill>
                  <a:srgbClr val="D9A600"/>
                </a:solidFill>
              </a:defRPr>
            </a:pPr>
            <a:r>
              <a:t>Community ✓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D9A600"/>
                </a:solidFill>
              </a:defRPr>
            </a:pPr>
            <a:r>
              <a:t>Matching ✓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D9A600"/>
                </a:solidFill>
              </a:defRPr>
            </a:pPr>
            <a:r>
              <a:t>Accountability ✓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D9A600"/>
                </a:solidFill>
              </a:defRPr>
            </a:pPr>
            <a:r>
              <a:t>Cash prizes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286000"/>
            <a:ext cx="3291840" cy="29260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t>StepBet</a:t>
            </a:r>
          </a:p>
          <a:p>
            <a:pPr algn="ctr">
              <a:spcAft>
                <a:spcPts val="400"/>
              </a:spcAft>
              <a:defRPr sz="400" b="0">
                <a:solidFill>
                  <a:srgbClr val="999999"/>
                </a:solidFill>
              </a:defRPr>
            </a:pPr>
          </a:p>
          <a:p>
            <a:pPr algn="ctr">
              <a:spcAft>
                <a:spcPts val="400"/>
              </a:spcAft>
              <a:defRPr sz="1300" b="1">
                <a:solidFill>
                  <a:srgbClr val="D9A600"/>
                </a:solidFill>
              </a:defRPr>
            </a:pPr>
            <a:r>
              <a:t>Cash prizes ✓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555555"/>
                </a:solidFill>
              </a:defRPr>
            </a:pPr>
            <a:r>
              <a:t>No matching ✗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555555"/>
                </a:solidFill>
              </a:defRPr>
            </a:pPr>
            <a:r>
              <a:t>Solo goals ✗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555555"/>
                </a:solidFill>
              </a:defRPr>
            </a:pPr>
            <a:r>
              <a:t>No run clubs ✗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A600"/>
                </a:solidFill>
              </a:defRPr>
            </a:pPr>
            <a:r>
              <a:t>RunMatch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6975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Confidential · 2026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A600"/>
                </a:solidFill>
              </a:defRPr>
            </a:pPr>
            <a: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Three 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48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9A600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103120"/>
            <a:ext cx="9601200" cy="118872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Competition entry fees — 10–15% commission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99999"/>
                </a:solidFill>
              </a:defRPr>
            </a:pPr>
            <a:r>
              <a:t>Runners put skin in the game. Winners split the pot. RunMatch takes 10–15% — the same proven model as StepBet, which paid out $100M+ to 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548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9A600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20440"/>
            <a:ext cx="9601200" cy="118872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Subscription tier — RunMatch Pro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99999"/>
                </a:solidFill>
              </a:defRPr>
            </a:pPr>
            <a:r>
              <a:t>Premium features: multiple simultaneous competitions, advanced matching, coaching integrations, and run club management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548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9A600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937760"/>
            <a:ext cx="9601200" cy="118872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Corporate wellness partnerships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99999"/>
                </a:solidFill>
              </a:defRPr>
            </a:pPr>
            <a:r>
              <a:t>Employers pay RunMatch to run sponsored team challenges — a proven revenue stream for HealthyWage with Fortune 500 clients.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A600"/>
                </a:solidFill>
              </a:defRPr>
            </a:pPr>
            <a:r>
              <a:t>RunMatch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6975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Confidential · 2026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A600"/>
                </a:solidFill>
              </a:defRPr>
            </a:pPr>
            <a:r>
              <a:t>MARKET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model works. The audience exists.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91840" cy="274320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4400" b="1">
                <a:solidFill>
                  <a:srgbClr val="D9A600"/>
                </a:solidFill>
              </a:defRPr>
            </a:pPr>
            <a:r>
              <a:t>$100M+</a:t>
            </a:r>
          </a:p>
          <a:p>
            <a:pPr algn="ctr">
              <a:spcAft>
                <a:spcPts val="400"/>
              </a:spcAft>
              <a:defRPr sz="600" b="0">
                <a:solidFill>
                  <a:srgbClr val="999999"/>
                </a:solidFill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999999"/>
                </a:solidFill>
              </a:defRPr>
            </a:pPr>
            <a:r>
              <a:t>Paid out by StepBet — proving cash competition model works at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286000"/>
            <a:ext cx="3291840" cy="274320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4400" b="1">
                <a:solidFill>
                  <a:srgbClr val="D9A600"/>
                </a:solidFill>
              </a:defRPr>
            </a:pPr>
            <a:r>
              <a:t>180M</a:t>
            </a:r>
          </a:p>
          <a:p>
            <a:pPr algn="ctr">
              <a:spcAft>
                <a:spcPts val="400"/>
              </a:spcAft>
              <a:defRPr sz="600" b="0">
                <a:solidFill>
                  <a:srgbClr val="999999"/>
                </a:solidFill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999999"/>
                </a:solidFill>
              </a:defRPr>
            </a:pPr>
            <a:r>
              <a:t>Strava users — proving massive demand for social running platforms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286000"/>
            <a:ext cx="3291840" cy="274320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4400" b="1">
                <a:solidFill>
                  <a:srgbClr val="D9A600"/>
                </a:solidFill>
              </a:defRPr>
            </a:pPr>
            <a:r>
              <a:t>3x</a:t>
            </a:r>
          </a:p>
          <a:p>
            <a:pPr algn="ctr">
              <a:spcAft>
                <a:spcPts val="400"/>
              </a:spcAft>
              <a:defRPr sz="600" b="0">
                <a:solidFill>
                  <a:srgbClr val="999999"/>
                </a:solidFill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999999"/>
                </a:solidFill>
              </a:defRPr>
            </a:pPr>
            <a:r>
              <a:t>More likely to hit fitness goals when financial stakes are involved (Mayo Clinic)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A600"/>
                </a:solidFill>
              </a:defRPr>
            </a:pPr>
            <a:r>
              <a:t>RunMatch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6975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Confidential · 2026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A600"/>
                </a:solidFill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Pre-seed round — SAFE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D9A600"/>
                </a:solidFill>
              </a:defRPr>
            </a:pPr>
            <a:r>
              <a:t>$100K</a:t>
            </a:r>
          </a:p>
          <a:p>
            <a:pPr>
              <a:defRPr sz="1800">
                <a:solidFill>
                  <a:srgbClr val="999999"/>
                </a:solidFill>
              </a:defRPr>
            </a:pPr>
            <a:r>
              <a:t>Pre-seed 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3200400" cy="109728"/>
          </a:xfrm>
          <a:prstGeom prst="rect">
            <a:avLst/>
          </a:prstGeom>
          <a:solidFill>
            <a:srgbClr val="D9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31920" y="4114800"/>
            <a:ext cx="914400" cy="109728"/>
          </a:xfrm>
          <a:prstGeom prst="rect">
            <a:avLst/>
          </a:prstGeom>
          <a:solidFill>
            <a:srgbClr val="B3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6320" y="4114800"/>
            <a:ext cx="457200" cy="109728"/>
          </a:xfrm>
          <a:prstGeom prst="rect">
            <a:avLst/>
          </a:prstGeom>
          <a:solidFill>
            <a:srgbClr val="8B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5029200" cy="105156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70%  Customer acquisition &amp; community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2316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D9A600"/>
                </a:solidFill>
              </a:defRPr>
            </a:pPr>
            <a:r>
              <a:t>70%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66160"/>
            <a:ext cx="5029200" cy="105156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20%  Product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70332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D9A600"/>
                </a:solidFill>
              </a:defRPr>
            </a:pPr>
            <a:r>
              <a:t>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846320"/>
            <a:ext cx="5029200" cy="105156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10%  Legal &amp;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98348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D9A600"/>
                </a:solidFill>
              </a:defRPr>
            </a:pPr>
            <a:r>
              <a:t>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A600"/>
                </a:solidFill>
              </a:defRPr>
            </a:pPr>
            <a:r>
              <a:t>RunMatch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6975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Confidential · 2026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A600"/>
                </a:solidFill>
              </a:defRPr>
            </a:pPr>
            <a: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timing is right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120640" cy="256032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400"/>
              </a:spcAft>
              <a:defRPr sz="2200" b="1">
                <a:solidFill>
                  <a:srgbClr val="D9A600"/>
                </a:solidFill>
              </a:defRPr>
            </a:pPr>
            <a:r>
              <a:t>Running is booming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999999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999999"/>
                </a:solidFill>
              </a:defRPr>
            </a:pPr>
            <a:r>
              <a:t>Marathon participation hit record highs in 2024. Running culture is mainstream and the audience has never been larger or more digitally engaged.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2286000"/>
            <a:ext cx="5120640" cy="256032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>
              <a:spcAft>
                <a:spcPts val="400"/>
              </a:spcAft>
              <a:defRPr sz="2200" b="1">
                <a:solidFill>
                  <a:srgbClr val="D9A600"/>
                </a:solidFill>
              </a:defRPr>
            </a:pPr>
            <a:r>
              <a:t>The model is proven, the gap is open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999999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999999"/>
                </a:solidFill>
              </a:defRPr>
            </a:pPr>
            <a:r>
              <a:t>StepBet proved cash competitions work. Strava proved running community is worth billions. Nobody has combined both for runners — that's RunMatch.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D9A600"/>
                </a:solidFill>
              </a:defRPr>
            </a:pPr>
            <a:r>
              <a:t>Match with runners like you. Build consistency. Compete for cash.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A600"/>
                </a:solidFill>
              </a:defRPr>
            </a:pPr>
            <a:r>
              <a:t>RunMatch,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6975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Confidential · 2026 ·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